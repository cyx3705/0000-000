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H_COVER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H_SECTION">
    <p:bg>
      <p:bgPr>
        <a:solidFill>
          <a:srgbClr val="3835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canv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1280160" cy="384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H_CONTENT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27648"/>
            <a:ext cx="795528" cy="23774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38352F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1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38352F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182880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14600" y="548640"/>
            <a:ext cx="9128455" cy="548640"/>
          </a:xfrm>
          <a:prstGeom prst="roundRect">
            <a:avLst>
              <a:gd name="adj" fmla="val 15000"/>
            </a:avLst>
          </a:prstGeom>
          <a:solidFill>
            <a:srgbClr val="38352F"/>
          </a:solidFill>
          <a:ln w="12700">
            <a:solidFill>
              <a:srgbClr val="38352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2148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38352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PROJECT REPORT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56032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项目报告标题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57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用一句话说明本次汇报的主题与结论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5166360"/>
            <a:ext cx="11094415" cy="32004"/>
          </a:xfrm>
          <a:prstGeom prst="rect">
            <a:avLst/>
          </a:prstGeom>
          <a:solidFill>
            <a:srgbClr val="38352F"/>
          </a:solidFill>
          <a:ln w="12700">
            <a:solidFill>
              <a:srgbClr val="38352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534924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制作人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5641848"/>
            <a:ext cx="3423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〔姓名〕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246778" y="5257800"/>
            <a:ext cx="0" cy="868680"/>
          </a:xfrm>
          <a:prstGeom prst="line">
            <a:avLst/>
          </a:prstGeom>
          <a:noFill/>
          <a:ln w="9525">
            <a:solidFill>
              <a:srgbClr val="D5D1C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383938" y="534924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汇报日期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383938" y="5641848"/>
            <a:ext cx="3423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8352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YYYY-MM-DD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944917" y="5257800"/>
            <a:ext cx="0" cy="868680"/>
          </a:xfrm>
          <a:prstGeom prst="line">
            <a:avLst/>
          </a:prstGeom>
          <a:noFill/>
          <a:ln w="9525">
            <a:solidFill>
              <a:srgbClr val="D5D1C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82077" y="534924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项目编号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082077" y="5641848"/>
            <a:ext cx="3423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8352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2026-XXX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6217920"/>
            <a:ext cx="11094415" cy="12802"/>
          </a:xfrm>
          <a:prstGeom prst="rect">
            <a:avLst/>
          </a:prstGeom>
          <a:solidFill>
            <a:srgbClr val="38352F"/>
          </a:solidFill>
          <a:ln w="12700">
            <a:solidFill>
              <a:srgbClr val="38352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534160" y="699516"/>
            <a:ext cx="10108895" cy="420624"/>
          </a:xfrm>
          <a:prstGeom prst="roundRect">
            <a:avLst>
              <a:gd name="adj" fmla="val 19565"/>
            </a:avLst>
          </a:prstGeom>
          <a:solidFill>
            <a:srgbClr val="38352F"/>
          </a:solidFill>
          <a:ln w="12700">
            <a:solidFill>
              <a:srgbClr val="38352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34160" y="699516"/>
            <a:ext cx="990772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BFA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 5 部分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0992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F5E0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70992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主要设计安排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1709928"/>
            <a:ext cx="5059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介绍有关部分的分工与安排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11094415" cy="10973"/>
          </a:xfrm>
          <a:prstGeom prst="rect">
            <a:avLst/>
          </a:prstGeom>
          <a:solidFill>
            <a:srgbClr val="D5D1C8"/>
          </a:solidFill>
          <a:ln w="12700">
            <a:solidFill>
              <a:srgbClr val="D5D1C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57860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F5E0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257860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设计创新点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578608"/>
            <a:ext cx="5059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介绍几个新的设计与想法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11094415" cy="10973"/>
          </a:xfrm>
          <a:prstGeom prst="rect">
            <a:avLst/>
          </a:prstGeom>
          <a:solidFill>
            <a:srgbClr val="D5D1C8"/>
          </a:solidFill>
          <a:ln w="12700">
            <a:solidFill>
              <a:srgbClr val="D5D1C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44728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F5E0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344728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主要设计难点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447288"/>
            <a:ext cx="5059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设计遇到的不确定和难点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11094415" cy="10973"/>
          </a:xfrm>
          <a:prstGeom prst="rect">
            <a:avLst/>
          </a:prstGeom>
          <a:solidFill>
            <a:srgbClr val="D5D1C8"/>
          </a:solidFill>
          <a:ln w="12700">
            <a:solidFill>
              <a:srgbClr val="D5D1C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31596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F5E0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431596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接下来的规划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4315968"/>
            <a:ext cx="5059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接下来需要做的部分与未达到的遗憾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074920"/>
            <a:ext cx="11094415" cy="10973"/>
          </a:xfrm>
          <a:prstGeom prst="rect">
            <a:avLst/>
          </a:prstGeom>
          <a:solidFill>
            <a:srgbClr val="D5D1C8"/>
          </a:solidFill>
          <a:ln w="12700">
            <a:solidFill>
              <a:srgbClr val="D5D1C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518464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F5E0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1828800" y="518464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5184648"/>
            <a:ext cx="5059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回顾成果，展望下一阶段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943600"/>
            <a:ext cx="11094415" cy="32004"/>
          </a:xfrm>
          <a:prstGeom prst="rect">
            <a:avLst/>
          </a:prstGeom>
          <a:solidFill>
            <a:srgbClr val="38352F"/>
          </a:solidFill>
          <a:ln w="12700">
            <a:solidFill>
              <a:srgbClr val="38352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38352F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0" b="1" dirty="0">
                <a:solidFill>
                  <a:srgbClr val="D9A44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290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BFA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主要设计安排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AD7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介绍有关部分的分工与安排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814255" y="6263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DAD7C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 / 05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分工与职责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600960" y="699516"/>
            <a:ext cx="9042095" cy="420624"/>
          </a:xfrm>
          <a:prstGeom prst="roundRect">
            <a:avLst>
              <a:gd name="adj" fmla="val 19565"/>
            </a:avLst>
          </a:prstGeom>
          <a:solidFill>
            <a:srgbClr val="38352F"/>
          </a:solidFill>
          <a:ln w="12700">
            <a:solidFill>
              <a:srgbClr val="38352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600960" y="699516"/>
            <a:ext cx="884092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pPr algn="r" indent="0" marL="0">
              <a:buNone/>
            </a:pPr>
            <a:r>
              <a:rPr lang="en-US" sz="1300" dirty="0">
                <a:solidFill>
                  <a:srgbClr val="FBFA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主要设计安排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  <a:gridCol w="3962095"/>
                <a:gridCol w="2377440"/>
                <a:gridCol w="14630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38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负责人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38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工作内容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38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交付物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38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38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机械设计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〔姓名〕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〔结构方案、三维建模、出图〕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〔图纸 / 模型〕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〔MM-DD〕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电子 / 电控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〔姓名〕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〔原理图、PCB、电气接线〕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〔原理图 / BOM〕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〔MM-DD〕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软件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〔姓名〕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〔控制程序、上位机〕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〔程序 / 说明〕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〔MM-DD〕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测试与验收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8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〔姓名〕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8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〔测试方案、问题跟踪〕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8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〔测试报告〕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8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〔MM-DD〕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8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38352F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里程碑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889760" y="699516"/>
            <a:ext cx="9753295" cy="420624"/>
          </a:xfrm>
          <a:prstGeom prst="roundRect">
            <a:avLst>
              <a:gd name="adj" fmla="val 19565"/>
            </a:avLst>
          </a:prstGeom>
          <a:solidFill>
            <a:srgbClr val="38352F"/>
          </a:solidFill>
          <a:ln w="12700">
            <a:solidFill>
              <a:srgbClr val="38352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889760" y="699516"/>
            <a:ext cx="955212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pPr algn="r" indent="0" marL="0">
              <a:buNone/>
            </a:pPr>
            <a:r>
              <a:rPr lang="en-US" sz="1300" dirty="0">
                <a:solidFill>
                  <a:srgbClr val="FBFA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主要设计安排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11094415" cy="45720"/>
          </a:xfrm>
          <a:prstGeom prst="rect">
            <a:avLst/>
          </a:prstGeom>
          <a:solidFill>
            <a:srgbClr val="38352F"/>
          </a:solidFill>
          <a:ln w="12700">
            <a:solidFill>
              <a:srgbClr val="3835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980944"/>
            <a:ext cx="301752" cy="301752"/>
          </a:xfrm>
          <a:prstGeom prst="roundRect">
            <a:avLst>
              <a:gd name="adj" fmla="val 18182"/>
            </a:avLst>
          </a:prstGeom>
          <a:solidFill>
            <a:srgbClr val="38352F"/>
          </a:solidFill>
          <a:ln w="12700">
            <a:solidFill>
              <a:srgbClr val="3835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31720"/>
            <a:ext cx="2499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38352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520440"/>
            <a:ext cx="24992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方案评审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50208"/>
            <a:ext cx="2499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8352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YYYY-MM-DD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343400"/>
            <a:ext cx="24078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〔本阶段的关键产出与判定标准〕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22244" y="2980944"/>
            <a:ext cx="301752" cy="301752"/>
          </a:xfrm>
          <a:prstGeom prst="roundRect">
            <a:avLst>
              <a:gd name="adj" fmla="val 18182"/>
            </a:avLst>
          </a:prstGeom>
          <a:solidFill>
            <a:srgbClr val="38352F"/>
          </a:solidFill>
          <a:ln w="12700">
            <a:solidFill>
              <a:srgbClr val="38352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22244" y="2331720"/>
            <a:ext cx="2499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38352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322244" y="3520440"/>
            <a:ext cx="24992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设计冻结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322244" y="3950208"/>
            <a:ext cx="2499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8352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YYYY-MM-DD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322244" y="4343400"/>
            <a:ext cx="24078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〔本阶段的关键产出与判定标准〕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95848" y="2980944"/>
            <a:ext cx="301752" cy="301752"/>
          </a:xfrm>
          <a:prstGeom prst="roundRect">
            <a:avLst>
              <a:gd name="adj" fmla="val 18182"/>
            </a:avLst>
          </a:prstGeom>
          <a:solidFill>
            <a:srgbClr val="38352F"/>
          </a:solidFill>
          <a:ln w="12700">
            <a:solidFill>
              <a:srgbClr val="38352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95848" y="2331720"/>
            <a:ext cx="2499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38352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095848" y="3520440"/>
            <a:ext cx="24992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样机完成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095848" y="3950208"/>
            <a:ext cx="2499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8352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YYYY-MM-DD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095848" y="4343400"/>
            <a:ext cx="24078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〔本阶段的关键产出与判定标准〕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869451" y="2980944"/>
            <a:ext cx="301752" cy="301752"/>
          </a:xfrm>
          <a:prstGeom prst="roundRect">
            <a:avLst>
              <a:gd name="adj" fmla="val 18182"/>
            </a:avLst>
          </a:prstGeom>
          <a:solidFill>
            <a:srgbClr val="38352F"/>
          </a:solidFill>
          <a:ln w="12700">
            <a:solidFill>
              <a:srgbClr val="38352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69451" y="2331720"/>
            <a:ext cx="2499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38352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M4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869451" y="3520440"/>
            <a:ext cx="24992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验收交付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869451" y="3950208"/>
            <a:ext cx="2499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8352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YYYY-MM-DD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869451" y="4343400"/>
            <a:ext cx="24078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〔本阶段的关键产出与判定标准〕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38352F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总体方案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245360" y="699516"/>
            <a:ext cx="9397695" cy="420624"/>
          </a:xfrm>
          <a:prstGeom prst="roundRect">
            <a:avLst>
              <a:gd name="adj" fmla="val 19565"/>
            </a:avLst>
          </a:prstGeom>
          <a:solidFill>
            <a:srgbClr val="38352F"/>
          </a:solidFill>
          <a:ln w="12700">
            <a:solidFill>
              <a:srgbClr val="38352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45360" y="699516"/>
            <a:ext cx="919652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pPr algn="r" indent="0" marL="0">
              <a:buNone/>
            </a:pPr>
            <a:r>
              <a:rPr lang="en-US" sz="1300" dirty="0">
                <a:solidFill>
                  <a:srgbClr val="FBFA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主要设计安排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〔方案要点一：一句话说明〕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〔方案要点二：一句话说明〕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〔方案要点三：一句话说明〕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〔方案要点四：一句话说明〕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760720" y="1691640"/>
            <a:ext cx="5882335" cy="4343400"/>
          </a:xfrm>
          <a:prstGeom prst="roundRect">
            <a:avLst>
              <a:gd name="adj" fmla="val 3368"/>
            </a:avLst>
          </a:prstGeom>
          <a:solidFill>
            <a:srgbClr val="FBFAF7"/>
          </a:solidFill>
          <a:ln w="12700">
            <a:solidFill>
              <a:srgbClr val="D5D1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60720" y="3680460"/>
            <a:ext cx="5882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　总体结构图 / 系统框图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38352F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各部分安排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600960" y="699516"/>
            <a:ext cx="9042095" cy="420624"/>
          </a:xfrm>
          <a:prstGeom prst="roundRect">
            <a:avLst>
              <a:gd name="adj" fmla="val 19565"/>
            </a:avLst>
          </a:prstGeom>
          <a:solidFill>
            <a:srgbClr val="38352F"/>
          </a:solidFill>
          <a:ln w="12700">
            <a:solidFill>
              <a:srgbClr val="38352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600960" y="699516"/>
            <a:ext cx="884092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pPr algn="r" indent="0" marL="0">
              <a:buNone/>
            </a:pPr>
            <a:r>
              <a:rPr lang="en-US" sz="1300" dirty="0">
                <a:solidFill>
                  <a:srgbClr val="FBFA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主要设计安排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454298" cy="32004"/>
          </a:xfrm>
          <a:prstGeom prst="rect">
            <a:avLst/>
          </a:prstGeom>
          <a:solidFill>
            <a:srgbClr val="38352F"/>
          </a:solidFill>
          <a:ln w="12700">
            <a:solidFill>
              <a:srgbClr val="3835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476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8352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31720"/>
            <a:ext cx="3454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机械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788920"/>
            <a:ext cx="345429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〔该部分的目标、分工与时间安排〕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68698" y="1783080"/>
            <a:ext cx="3454298" cy="32004"/>
          </a:xfrm>
          <a:prstGeom prst="rect">
            <a:avLst/>
          </a:prstGeom>
          <a:solidFill>
            <a:srgbClr val="38352F"/>
          </a:solidFill>
          <a:ln w="12700">
            <a:solidFill>
              <a:srgbClr val="38352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68698" y="19476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8352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368698" y="2331720"/>
            <a:ext cx="3454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电控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368698" y="2788920"/>
            <a:ext cx="345429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〔该部分的目标、分工与时间安排〕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88757" y="1783080"/>
            <a:ext cx="3454298" cy="32004"/>
          </a:xfrm>
          <a:prstGeom prst="rect">
            <a:avLst/>
          </a:prstGeom>
          <a:solidFill>
            <a:srgbClr val="38352F"/>
          </a:solidFill>
          <a:ln w="12700">
            <a:solidFill>
              <a:srgbClr val="38352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88757" y="19476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8352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188757" y="2331720"/>
            <a:ext cx="3454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188757" y="2788920"/>
            <a:ext cx="345429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〔该部分的目标、分工与时间安排〕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38352F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0" b="1" dirty="0">
                <a:solidFill>
                  <a:srgbClr val="D9A44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290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BFA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设计创新点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AD7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介绍几个新的设计与想法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814255" y="6263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DAD7C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 / 05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关键指标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245360" y="699516"/>
            <a:ext cx="9397695" cy="420624"/>
          </a:xfrm>
          <a:prstGeom prst="roundRect">
            <a:avLst>
              <a:gd name="adj" fmla="val 19565"/>
            </a:avLst>
          </a:prstGeom>
          <a:solidFill>
            <a:srgbClr val="38352F"/>
          </a:solidFill>
          <a:ln w="12700">
            <a:solidFill>
              <a:srgbClr val="38352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45360" y="699516"/>
            <a:ext cx="919652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pPr algn="r" indent="0" marL="0">
              <a:buNone/>
            </a:pPr>
            <a:r>
              <a:rPr lang="en-US" sz="1300" dirty="0">
                <a:solidFill>
                  <a:srgbClr val="FBFA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设计创新点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31494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600" b="1" dirty="0">
                <a:solidFill>
                  <a:srgbClr val="38352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00%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83280"/>
            <a:ext cx="3149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〔指标名称〕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886200"/>
            <a:ext cx="31494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〔提升 / 降低多少，依据是什么〕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46778" y="1828800"/>
            <a:ext cx="0" cy="3474720"/>
          </a:xfrm>
          <a:prstGeom prst="line">
            <a:avLst/>
          </a:prstGeom>
          <a:noFill/>
          <a:ln w="9525">
            <a:solidFill>
              <a:srgbClr val="D5D1C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1098" y="1920240"/>
            <a:ext cx="31494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600" b="1" dirty="0">
                <a:solidFill>
                  <a:srgbClr val="38352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0.0s</a:t>
            </a:r>
            <a:endParaRPr lang="en-US" sz="6600" dirty="0"/>
          </a:p>
        </p:txBody>
      </p:sp>
      <p:sp>
        <p:nvSpPr>
          <p:cNvPr id="10" name="Text 8"/>
          <p:cNvSpPr txBox="1"/>
          <p:nvPr/>
        </p:nvSpPr>
        <p:spPr>
          <a:xfrm>
            <a:off x="4521098" y="3383280"/>
            <a:ext cx="3149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〔指标名称〕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21098" y="3886200"/>
            <a:ext cx="31494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〔说明〕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44917" y="1828800"/>
            <a:ext cx="0" cy="3474720"/>
          </a:xfrm>
          <a:prstGeom prst="line">
            <a:avLst/>
          </a:prstGeom>
          <a:noFill/>
          <a:ln w="9525">
            <a:solidFill>
              <a:srgbClr val="D5D1C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19237" y="1920240"/>
            <a:ext cx="31494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600" b="1" dirty="0">
                <a:solidFill>
                  <a:srgbClr val="38352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00</a:t>
            </a:r>
            <a:endParaRPr lang="en-US" sz="6600" dirty="0"/>
          </a:p>
        </p:txBody>
      </p:sp>
      <p:sp>
        <p:nvSpPr>
          <p:cNvPr id="14" name="Text 12"/>
          <p:cNvSpPr txBox="1"/>
          <p:nvPr/>
        </p:nvSpPr>
        <p:spPr>
          <a:xfrm>
            <a:off x="8219237" y="3383280"/>
            <a:ext cx="3149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〔指标名称〕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219237" y="3886200"/>
            <a:ext cx="31494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〔说明〕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38352F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889760" y="699516"/>
            <a:ext cx="9753295" cy="420624"/>
          </a:xfrm>
          <a:prstGeom prst="roundRect">
            <a:avLst>
              <a:gd name="adj" fmla="val 19565"/>
            </a:avLst>
          </a:prstGeom>
          <a:solidFill>
            <a:srgbClr val="38352F"/>
          </a:solidFill>
          <a:ln w="12700">
            <a:solidFill>
              <a:srgbClr val="38352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889760" y="699516"/>
            <a:ext cx="955212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pPr algn="r" indent="0" marL="0">
              <a:buNone/>
            </a:pPr>
            <a:r>
              <a:rPr lang="en-US" sz="1300" dirty="0">
                <a:solidFill>
                  <a:srgbClr val="FBFA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设计创新点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272888" cy="32004"/>
          </a:xfrm>
          <a:prstGeom prst="rect">
            <a:avLst/>
          </a:prstGeom>
          <a:solidFill>
            <a:srgbClr val="38352F"/>
          </a:solidFill>
          <a:ln w="12700">
            <a:solidFill>
              <a:srgbClr val="3835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019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8352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5272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〔创新点一〕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743200"/>
            <a:ext cx="5272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〔解决了什么问题、怎么做的、效果如何〕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70168" y="1737360"/>
            <a:ext cx="5272888" cy="32004"/>
          </a:xfrm>
          <a:prstGeom prst="rect">
            <a:avLst/>
          </a:prstGeom>
          <a:solidFill>
            <a:srgbClr val="38352F"/>
          </a:solidFill>
          <a:ln w="12700">
            <a:solidFill>
              <a:srgbClr val="38352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70168" y="19019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8352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370168" y="2286000"/>
            <a:ext cx="5272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〔创新点二〕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370168" y="2743200"/>
            <a:ext cx="5272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〔解决了什么问题、怎么做的、效果如何〕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5272888" cy="32004"/>
          </a:xfrm>
          <a:prstGeom prst="rect">
            <a:avLst/>
          </a:prstGeom>
          <a:solidFill>
            <a:srgbClr val="38352F"/>
          </a:solidFill>
          <a:ln w="12700">
            <a:solidFill>
              <a:srgbClr val="38352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1422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8352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526280"/>
            <a:ext cx="5272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〔创新点三〕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983480"/>
            <a:ext cx="5272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〔解决了什么问题、怎么做的、效果如何〕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70168" y="3977640"/>
            <a:ext cx="5272888" cy="32004"/>
          </a:xfrm>
          <a:prstGeom prst="rect">
            <a:avLst/>
          </a:prstGeom>
          <a:solidFill>
            <a:srgbClr val="38352F"/>
          </a:solidFill>
          <a:ln w="12700">
            <a:solidFill>
              <a:srgbClr val="38352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70168" y="41422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8352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370168" y="4526280"/>
            <a:ext cx="5272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〔创新点四〕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370168" y="4983480"/>
            <a:ext cx="5272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〔解决了什么问题、怎么做的、效果如何〕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38352F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改进前后对比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956560" y="699516"/>
            <a:ext cx="8686495" cy="420624"/>
          </a:xfrm>
          <a:prstGeom prst="roundRect">
            <a:avLst>
              <a:gd name="adj" fmla="val 19565"/>
            </a:avLst>
          </a:prstGeom>
          <a:solidFill>
            <a:srgbClr val="38352F"/>
          </a:solidFill>
          <a:ln w="12700">
            <a:solidFill>
              <a:srgbClr val="38352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956560" y="699516"/>
            <a:ext cx="848532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pPr algn="r" indent="0" marL="0">
              <a:buNone/>
            </a:pPr>
            <a:r>
              <a:rPr lang="en-US" sz="1300" dirty="0">
                <a:solidFill>
                  <a:srgbClr val="FBFA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设计创新点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272888" cy="32004"/>
          </a:xfrm>
          <a:prstGeom prst="rect">
            <a:avLst/>
          </a:prstGeom>
          <a:solidFill>
            <a:srgbClr val="38352F"/>
          </a:solidFill>
          <a:ln w="12700">
            <a:solidFill>
              <a:srgbClr val="3835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783080"/>
            <a:ext cx="490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改进前</a:t>
            </a:r>
            <a:pPr indent="0" marL="0">
              <a:buNone/>
            </a:pPr>
            <a:r>
              <a:rPr lang="en-US" sz="1200" dirty="0">
                <a:solidFill>
                  <a:srgbClr val="38352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　BEFORE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5272888" cy="2103120"/>
          </a:xfrm>
          <a:prstGeom prst="roundRect">
            <a:avLst>
              <a:gd name="adj" fmla="val 6957"/>
            </a:avLst>
          </a:prstGeom>
          <a:solidFill>
            <a:srgbClr val="FBFAF7"/>
          </a:solidFill>
          <a:ln w="12700">
            <a:solidFill>
              <a:srgbClr val="D5D1C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337560"/>
            <a:ext cx="527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54880"/>
            <a:ext cx="5272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〔要点一〕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〔要点二〕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70168" y="1737360"/>
            <a:ext cx="5272888" cy="32004"/>
          </a:xfrm>
          <a:prstGeom prst="rect">
            <a:avLst/>
          </a:prstGeom>
          <a:solidFill>
            <a:srgbClr val="38352F"/>
          </a:solidFill>
          <a:ln w="12700">
            <a:solidFill>
              <a:srgbClr val="3835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70168" y="1783080"/>
            <a:ext cx="490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改进后</a:t>
            </a:r>
            <a:pPr indent="0" marL="0">
              <a:buNone/>
            </a:pPr>
            <a:r>
              <a:rPr lang="en-US" sz="1200" dirty="0">
                <a:solidFill>
                  <a:srgbClr val="38352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　AFTER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370168" y="2468880"/>
            <a:ext cx="5272888" cy="2103120"/>
          </a:xfrm>
          <a:prstGeom prst="roundRect">
            <a:avLst>
              <a:gd name="adj" fmla="val 6957"/>
            </a:avLst>
          </a:prstGeom>
          <a:solidFill>
            <a:srgbClr val="FBFAF7"/>
          </a:solidFill>
          <a:ln w="19050">
            <a:solidFill>
              <a:srgbClr val="3835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70168" y="3337560"/>
            <a:ext cx="527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370168" y="4754880"/>
            <a:ext cx="5272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〔要点一〕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〔要点二〕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38352F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0" b="1" dirty="0">
                <a:solidFill>
                  <a:srgbClr val="D9A44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290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BFA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主要设计难点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AD7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设计遇到的不确定和难点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814255" y="6263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DAD7C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 / 05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难点清单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245360" y="699516"/>
            <a:ext cx="9397695" cy="420624"/>
          </a:xfrm>
          <a:prstGeom prst="roundRect">
            <a:avLst>
              <a:gd name="adj" fmla="val 19565"/>
            </a:avLst>
          </a:prstGeom>
          <a:solidFill>
            <a:srgbClr val="38352F"/>
          </a:solidFill>
          <a:ln w="12700">
            <a:solidFill>
              <a:srgbClr val="38352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45360" y="699516"/>
            <a:ext cx="919652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pPr algn="r" indent="0" marL="0">
              <a:buNone/>
            </a:pPr>
            <a:r>
              <a:rPr lang="en-US" sz="1300" dirty="0">
                <a:solidFill>
                  <a:srgbClr val="FBFA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主要设计难点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291840"/>
                <a:gridCol w="1371600"/>
                <a:gridCol w="1218895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难点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38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原因分析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38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应对措施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38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负责人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38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38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〔难点一〕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〔为什么难〕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〔采取的方案〕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〔姓名〕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进行中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〔难点二〕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〔为什么难〕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〔采取的方案〕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〔姓名〕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已解决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〔难点三〕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8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〔为什么难〕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8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〔采取的方案〕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8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〔姓名〕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8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待验证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8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38352F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难点详解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245360" y="699516"/>
            <a:ext cx="9397695" cy="420624"/>
          </a:xfrm>
          <a:prstGeom prst="roundRect">
            <a:avLst>
              <a:gd name="adj" fmla="val 19565"/>
            </a:avLst>
          </a:prstGeom>
          <a:solidFill>
            <a:srgbClr val="38352F"/>
          </a:solidFill>
          <a:ln w="12700">
            <a:solidFill>
              <a:srgbClr val="38352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45360" y="699516"/>
            <a:ext cx="919652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pPr algn="r" indent="0" marL="0">
              <a:buNone/>
            </a:pPr>
            <a:r>
              <a:rPr lang="en-US" sz="1300" dirty="0">
                <a:solidFill>
                  <a:srgbClr val="FBFA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主要设计难点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766560" cy="4343400"/>
          </a:xfrm>
          <a:prstGeom prst="roundRect">
            <a:avLst>
              <a:gd name="adj" fmla="val 3368"/>
            </a:avLst>
          </a:prstGeom>
          <a:solidFill>
            <a:srgbClr val="FBFAF7"/>
          </a:solidFill>
          <a:ln w="12700">
            <a:solidFill>
              <a:srgbClr val="D5D1C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6804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　结构细节 / 仿真结果 / 测试曲线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169164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〔难点名称〕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0" y="2240280"/>
            <a:ext cx="3870655" cy="10973"/>
          </a:xfrm>
          <a:prstGeom prst="rect">
            <a:avLst/>
          </a:prstGeom>
          <a:solidFill>
            <a:srgbClr val="D5D1C8"/>
          </a:solidFill>
          <a:ln w="12700">
            <a:solidFill>
              <a:srgbClr val="D5D1C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0" y="2423160"/>
            <a:ext cx="387065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〔现象：观察到了什么〕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〔原因：根因是什么〕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〔对策：怎么解决〕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〔结果：验证数据〕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38352F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解决路径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245360" y="699516"/>
            <a:ext cx="9397695" cy="420624"/>
          </a:xfrm>
          <a:prstGeom prst="roundRect">
            <a:avLst>
              <a:gd name="adj" fmla="val 19565"/>
            </a:avLst>
          </a:prstGeom>
          <a:solidFill>
            <a:srgbClr val="38352F"/>
          </a:solidFill>
          <a:ln w="12700">
            <a:solidFill>
              <a:srgbClr val="38352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45360" y="699516"/>
            <a:ext cx="919652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pPr algn="r" indent="0" marL="0">
              <a:buNone/>
            </a:pPr>
            <a:r>
              <a:rPr lang="en-US" sz="1300" dirty="0">
                <a:solidFill>
                  <a:srgbClr val="FBFA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主要设计难点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464994" cy="2377440"/>
          </a:xfrm>
          <a:prstGeom prst="roundRect">
            <a:avLst>
              <a:gd name="adj" fmla="val 6154"/>
            </a:avLst>
          </a:prstGeom>
          <a:solidFill>
            <a:srgbClr val="FBFAF7"/>
          </a:solidFill>
          <a:ln w="12700">
            <a:solidFill>
              <a:srgbClr val="D5D1C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2860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8352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34640"/>
            <a:ext cx="2007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429000"/>
            <a:ext cx="20077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〔描述问题〕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013634" y="30175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8352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25114" y="2103120"/>
            <a:ext cx="2464994" cy="2377440"/>
          </a:xfrm>
          <a:prstGeom prst="roundRect">
            <a:avLst>
              <a:gd name="adj" fmla="val 6154"/>
            </a:avLst>
          </a:prstGeom>
          <a:solidFill>
            <a:srgbClr val="FBFAF7"/>
          </a:solidFill>
          <a:ln w="12700">
            <a:solidFill>
              <a:srgbClr val="D5D1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3714" y="22860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8352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53714" y="2834640"/>
            <a:ext cx="2007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653714" y="3429000"/>
            <a:ext cx="20077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〔定位原因〕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890108" y="30175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8352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301588" y="2103120"/>
            <a:ext cx="2464994" cy="2377440"/>
          </a:xfrm>
          <a:prstGeom prst="roundRect">
            <a:avLst>
              <a:gd name="adj" fmla="val 6154"/>
            </a:avLst>
          </a:prstGeom>
          <a:solidFill>
            <a:srgbClr val="FBFAF7"/>
          </a:solidFill>
          <a:ln w="12700">
            <a:solidFill>
              <a:srgbClr val="D5D1C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30188" y="22860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8352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530188" y="2834640"/>
            <a:ext cx="2007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530188" y="3429000"/>
            <a:ext cx="20077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〔提出对策〕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766581" y="30175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8352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178061" y="2103120"/>
            <a:ext cx="2464994" cy="2377440"/>
          </a:xfrm>
          <a:prstGeom prst="roundRect">
            <a:avLst>
              <a:gd name="adj" fmla="val 6154"/>
            </a:avLst>
          </a:prstGeom>
          <a:solidFill>
            <a:srgbClr val="FBFAF7"/>
          </a:solidFill>
          <a:ln w="28575">
            <a:solidFill>
              <a:srgbClr val="3835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406661" y="22860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8352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406661" y="2834640"/>
            <a:ext cx="2007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9406661" y="3429000"/>
            <a:ext cx="20077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〔验证结果〕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38352F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0" b="1" dirty="0">
                <a:solidFill>
                  <a:srgbClr val="D9A44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04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290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BFA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接下来的规划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AD7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接下来需要做的部分与未达到的遗憾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814255" y="6263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DAD7C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04 / 05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进度计划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245360" y="699516"/>
            <a:ext cx="9397695" cy="420624"/>
          </a:xfrm>
          <a:prstGeom prst="roundRect">
            <a:avLst>
              <a:gd name="adj" fmla="val 19565"/>
            </a:avLst>
          </a:prstGeom>
          <a:solidFill>
            <a:srgbClr val="38352F"/>
          </a:solidFill>
          <a:ln w="12700">
            <a:solidFill>
              <a:srgbClr val="38352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45360" y="699516"/>
            <a:ext cx="919652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04</a:t>
            </a:r>
            <a:pPr algn="r" indent="0" marL="0">
              <a:buNone/>
            </a:pPr>
            <a:r>
              <a:rPr lang="en-US" sz="1300" dirty="0">
                <a:solidFill>
                  <a:srgbClr val="FBFA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接下来的规划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4415" cy="32004"/>
          </a:xfrm>
          <a:prstGeom prst="rect">
            <a:avLst/>
          </a:prstGeom>
          <a:solidFill>
            <a:srgbClr val="38352F"/>
          </a:solidFill>
          <a:ln w="12700">
            <a:solidFill>
              <a:srgbClr val="3835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91840" y="1828800"/>
            <a:ext cx="13918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352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683709" y="1828800"/>
            <a:ext cx="13918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352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075578" y="1828800"/>
            <a:ext cx="13918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352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M3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467448" y="1828800"/>
            <a:ext cx="13918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352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M4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859317" y="1828800"/>
            <a:ext cx="13918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352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M5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251186" y="1828800"/>
            <a:ext cx="13918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352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240280"/>
            <a:ext cx="11094415" cy="10973"/>
          </a:xfrm>
          <a:prstGeom prst="rect">
            <a:avLst/>
          </a:prstGeom>
          <a:solidFill>
            <a:srgbClr val="38352F"/>
          </a:solidFill>
          <a:ln w="12700">
            <a:solidFill>
              <a:srgbClr val="38352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83709" y="2286000"/>
            <a:ext cx="0" cy="2926080"/>
          </a:xfrm>
          <a:prstGeom prst="line">
            <a:avLst/>
          </a:prstGeom>
          <a:noFill/>
          <a:ln w="6350">
            <a:solidFill>
              <a:srgbClr val="E5E3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75578" y="2286000"/>
            <a:ext cx="0" cy="2926080"/>
          </a:xfrm>
          <a:prstGeom prst="line">
            <a:avLst/>
          </a:prstGeom>
          <a:noFill/>
          <a:ln w="6350">
            <a:solidFill>
              <a:srgbClr val="E5E3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67448" y="2286000"/>
            <a:ext cx="0" cy="2926080"/>
          </a:xfrm>
          <a:prstGeom prst="line">
            <a:avLst/>
          </a:prstGeom>
          <a:noFill/>
          <a:ln w="6350">
            <a:solidFill>
              <a:srgbClr val="E5E3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59317" y="2286000"/>
            <a:ext cx="0" cy="2926080"/>
          </a:xfrm>
          <a:prstGeom prst="line">
            <a:avLst/>
          </a:prstGeom>
          <a:noFill/>
          <a:ln w="6350">
            <a:solidFill>
              <a:srgbClr val="E5E3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51186" y="2286000"/>
            <a:ext cx="0" cy="2926080"/>
          </a:xfrm>
          <a:prstGeom prst="line">
            <a:avLst/>
          </a:prstGeom>
          <a:noFill/>
          <a:ln w="6350">
            <a:solidFill>
              <a:srgbClr val="E5E3D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2286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〔任务一〕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337560" y="2514600"/>
            <a:ext cx="2692298" cy="274320"/>
          </a:xfrm>
          <a:prstGeom prst="roundRect">
            <a:avLst>
              <a:gd name="adj" fmla="val 20000"/>
            </a:avLst>
          </a:prstGeom>
          <a:solidFill>
            <a:srgbClr val="38352F"/>
          </a:solidFill>
          <a:ln w="12700">
            <a:solidFill>
              <a:srgbClr val="38352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017520"/>
            <a:ext cx="11094415" cy="10973"/>
          </a:xfrm>
          <a:prstGeom prst="rect">
            <a:avLst/>
          </a:prstGeom>
          <a:solidFill>
            <a:srgbClr val="D5D1C8"/>
          </a:solidFill>
          <a:ln w="12700">
            <a:solidFill>
              <a:srgbClr val="D5D1C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017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〔任务二〕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729429" y="3246120"/>
            <a:ext cx="2692298" cy="274320"/>
          </a:xfrm>
          <a:prstGeom prst="roundRect">
            <a:avLst>
              <a:gd name="adj" fmla="val 20000"/>
            </a:avLst>
          </a:prstGeom>
          <a:solidFill>
            <a:srgbClr val="38352F"/>
          </a:solidFill>
          <a:ln w="12700">
            <a:solidFill>
              <a:srgbClr val="38352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749040"/>
            <a:ext cx="11094415" cy="10973"/>
          </a:xfrm>
          <a:prstGeom prst="rect">
            <a:avLst/>
          </a:prstGeom>
          <a:solidFill>
            <a:srgbClr val="D5D1C8"/>
          </a:solidFill>
          <a:ln w="12700">
            <a:solidFill>
              <a:srgbClr val="D5D1C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7490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〔任务三〕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121298" y="3977640"/>
            <a:ext cx="2692298" cy="274320"/>
          </a:xfrm>
          <a:prstGeom prst="roundRect">
            <a:avLst>
              <a:gd name="adj" fmla="val 20000"/>
            </a:avLst>
          </a:prstGeom>
          <a:solidFill>
            <a:srgbClr val="38352F"/>
          </a:solidFill>
          <a:ln w="12700">
            <a:solidFill>
              <a:srgbClr val="38352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480560"/>
            <a:ext cx="11094415" cy="10973"/>
          </a:xfrm>
          <a:prstGeom prst="rect">
            <a:avLst/>
          </a:prstGeom>
          <a:solidFill>
            <a:srgbClr val="D5D1C8"/>
          </a:solidFill>
          <a:ln w="12700">
            <a:solidFill>
              <a:srgbClr val="D5D1C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44805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〔任务四〕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905037" y="4709160"/>
            <a:ext cx="2692298" cy="274320"/>
          </a:xfrm>
          <a:prstGeom prst="roundRect">
            <a:avLst>
              <a:gd name="adj" fmla="val 20000"/>
            </a:avLst>
          </a:prstGeom>
          <a:solidFill>
            <a:srgbClr val="38352F"/>
          </a:solidFill>
          <a:ln w="12700">
            <a:solidFill>
              <a:srgbClr val="38352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5212080"/>
            <a:ext cx="11094415" cy="10973"/>
          </a:xfrm>
          <a:prstGeom prst="rect">
            <a:avLst/>
          </a:prstGeom>
          <a:solidFill>
            <a:srgbClr val="D5D1C8"/>
          </a:solidFill>
          <a:ln w="12700">
            <a:solidFill>
              <a:srgbClr val="D5D1C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38352F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待完成事项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600960" y="699516"/>
            <a:ext cx="9042095" cy="420624"/>
          </a:xfrm>
          <a:prstGeom prst="roundRect">
            <a:avLst>
              <a:gd name="adj" fmla="val 19565"/>
            </a:avLst>
          </a:prstGeom>
          <a:solidFill>
            <a:srgbClr val="38352F"/>
          </a:solidFill>
          <a:ln w="12700">
            <a:solidFill>
              <a:srgbClr val="38352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600960" y="699516"/>
            <a:ext cx="884092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04</a:t>
            </a:r>
            <a:pPr algn="r" indent="0" marL="0">
              <a:buNone/>
            </a:pPr>
            <a:r>
              <a:rPr lang="en-US" sz="1300" dirty="0">
                <a:solidFill>
                  <a:srgbClr val="FBFA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接下来的规划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272888" cy="32004"/>
          </a:xfrm>
          <a:prstGeom prst="rect">
            <a:avLst/>
          </a:prstGeom>
          <a:solidFill>
            <a:srgbClr val="38352F"/>
          </a:solidFill>
          <a:ln w="12700">
            <a:solidFill>
              <a:srgbClr val="3835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74520"/>
            <a:ext cx="527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必须完成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14600"/>
            <a:ext cx="527288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〔事项一〕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〔事项二〕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〔事项三〕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70168" y="1737360"/>
            <a:ext cx="5272888" cy="32004"/>
          </a:xfrm>
          <a:prstGeom prst="rect">
            <a:avLst/>
          </a:prstGeom>
          <a:solidFill>
            <a:srgbClr val="38352F"/>
          </a:solidFill>
          <a:ln w="12700">
            <a:solidFill>
              <a:srgbClr val="3835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70168" y="1874520"/>
            <a:ext cx="527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争取完成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370168" y="2514600"/>
            <a:ext cx="527288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〔事项一〕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〔事项二〕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〔事项三〕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38352F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资源与风险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600960" y="699516"/>
            <a:ext cx="9042095" cy="420624"/>
          </a:xfrm>
          <a:prstGeom prst="roundRect">
            <a:avLst>
              <a:gd name="adj" fmla="val 19565"/>
            </a:avLst>
          </a:prstGeom>
          <a:solidFill>
            <a:srgbClr val="38352F"/>
          </a:solidFill>
          <a:ln w="12700">
            <a:solidFill>
              <a:srgbClr val="38352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600960" y="699516"/>
            <a:ext cx="884092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04</a:t>
            </a:r>
            <a:pPr algn="r" indent="0" marL="0">
              <a:buNone/>
            </a:pPr>
            <a:r>
              <a:rPr lang="en-US" sz="1300" dirty="0">
                <a:solidFill>
                  <a:srgbClr val="FBFA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接下来的规划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  <a:gridCol w="2743200"/>
                <a:gridCol w="2864815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38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需要的资源 / 支持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38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38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38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〔事项〕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〔人力、设备、经费〕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〔可能的风险〕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〔预案〕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〔事项〕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〔人力、设备、经费〕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〔可能的风险〕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〔预案〕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〔事项〕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8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〔人力、设备、经费〕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8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〔可能的风险〕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8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83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〔预案〕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8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38352F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未达到的部分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956560" y="699516"/>
            <a:ext cx="8686495" cy="420624"/>
          </a:xfrm>
          <a:prstGeom prst="roundRect">
            <a:avLst>
              <a:gd name="adj" fmla="val 19565"/>
            </a:avLst>
          </a:prstGeom>
          <a:solidFill>
            <a:srgbClr val="38352F"/>
          </a:solidFill>
          <a:ln w="12700">
            <a:solidFill>
              <a:srgbClr val="38352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956560" y="699516"/>
            <a:ext cx="848532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04</a:t>
            </a:r>
            <a:pPr algn="r" indent="0" marL="0">
              <a:buNone/>
            </a:pPr>
            <a:r>
              <a:rPr lang="en-US" sz="1300" dirty="0">
                <a:solidFill>
                  <a:srgbClr val="FBFA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接下来的规划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454298" cy="32004"/>
          </a:xfrm>
          <a:prstGeom prst="rect">
            <a:avLst/>
          </a:prstGeom>
          <a:solidFill>
            <a:srgbClr val="38352F"/>
          </a:solidFill>
          <a:ln w="12700">
            <a:solidFill>
              <a:srgbClr val="3835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476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8352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31720"/>
            <a:ext cx="3454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〔未达成项〕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788920"/>
            <a:ext cx="345429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〔差距、原因与弥补计划〕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68698" y="1783080"/>
            <a:ext cx="3454298" cy="32004"/>
          </a:xfrm>
          <a:prstGeom prst="rect">
            <a:avLst/>
          </a:prstGeom>
          <a:solidFill>
            <a:srgbClr val="38352F"/>
          </a:solidFill>
          <a:ln w="12700">
            <a:solidFill>
              <a:srgbClr val="38352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68698" y="19476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8352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368698" y="2331720"/>
            <a:ext cx="3454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〔未达成项〕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368698" y="2788920"/>
            <a:ext cx="345429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〔差距、原因与弥补计划〕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88757" y="1783080"/>
            <a:ext cx="3454298" cy="32004"/>
          </a:xfrm>
          <a:prstGeom prst="rect">
            <a:avLst/>
          </a:prstGeom>
          <a:solidFill>
            <a:srgbClr val="38352F"/>
          </a:solidFill>
          <a:ln w="12700">
            <a:solidFill>
              <a:srgbClr val="38352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88757" y="19476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8352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188757" y="2331720"/>
            <a:ext cx="3454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〔未达成项〕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188757" y="2788920"/>
            <a:ext cx="345429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〔差距、原因与弥补计划〕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38352F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0" b="1" dirty="0">
                <a:solidFill>
                  <a:srgbClr val="D9A44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05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290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BFA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AD7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回顾成果，展望下一阶段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814255" y="6263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DAD7C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05 / 05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600960" y="699516"/>
            <a:ext cx="9042095" cy="420624"/>
          </a:xfrm>
          <a:prstGeom prst="roundRect">
            <a:avLst>
              <a:gd name="adj" fmla="val 19565"/>
            </a:avLst>
          </a:prstGeom>
          <a:solidFill>
            <a:srgbClr val="38352F"/>
          </a:solidFill>
          <a:ln w="12700">
            <a:solidFill>
              <a:srgbClr val="38352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600960" y="699516"/>
            <a:ext cx="884092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05</a:t>
            </a:r>
            <a:pPr algn="r" indent="0" marL="0">
              <a:buNone/>
            </a:pPr>
            <a:r>
              <a:rPr lang="en-US" sz="1300" dirty="0">
                <a:solidFill>
                  <a:srgbClr val="FBFA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总结与展望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〔用一句话总结本项目最重要的成果〕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3454298" cy="32004"/>
          </a:xfrm>
          <a:prstGeom prst="rect">
            <a:avLst/>
          </a:prstGeom>
          <a:solidFill>
            <a:srgbClr val="38352F"/>
          </a:solidFill>
          <a:ln w="12700">
            <a:solidFill>
              <a:srgbClr val="3835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4107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8352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94760"/>
            <a:ext cx="3454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345429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〔两三句话说明〕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68698" y="3246120"/>
            <a:ext cx="3454298" cy="32004"/>
          </a:xfrm>
          <a:prstGeom prst="rect">
            <a:avLst/>
          </a:prstGeom>
          <a:solidFill>
            <a:srgbClr val="38352F"/>
          </a:solidFill>
          <a:ln w="12700">
            <a:solidFill>
              <a:srgbClr val="3835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68698" y="34107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8352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368698" y="3794760"/>
            <a:ext cx="3454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368698" y="4251960"/>
            <a:ext cx="345429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〔两三句话说明〕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88757" y="3246120"/>
            <a:ext cx="3454298" cy="32004"/>
          </a:xfrm>
          <a:prstGeom prst="rect">
            <a:avLst/>
          </a:prstGeom>
          <a:solidFill>
            <a:srgbClr val="38352F"/>
          </a:solidFill>
          <a:ln w="12700">
            <a:solidFill>
              <a:srgbClr val="38352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88757" y="34107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8352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188757" y="3794760"/>
            <a:ext cx="3454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展望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188757" y="4251960"/>
            <a:ext cx="345429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83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〔两三句话说明〕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38352F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项目报告</dc:title>
  <dc:subject>PptxGenJS Presentation</dc:subject>
  <dc:creator>OneHistory</dc:creator>
  <cp:lastModifiedBy>OneHistory</cp:lastModifiedBy>
  <cp:revision>1</cp:revision>
  <dcterms:created xsi:type="dcterms:W3CDTF">2026-09-28T09:23:18Z</dcterms:created>
  <dcterms:modified xsi:type="dcterms:W3CDTF">2026-09-28T09:23:18Z</dcterms:modified>
</cp:coreProperties>
</file>